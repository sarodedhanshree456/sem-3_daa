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 flipV="1">
            <a:off x="7955279" y="1234440"/>
            <a:ext cx="1645921" cy="594360"/>
          </a:xfrm>
          <a:prstGeom prst="line">
            <a:avLst/>
          </a:prstGeom>
          <a:ln w="30480">
            <a:solidFill>
              <a:srgbClr val="199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577072" y="1257300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3223D"/>
                </a:solidFill>
                <a:latin typeface="Aptos"/>
              </a:rPr>
              <a:t>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955279" y="1828800"/>
            <a:ext cx="640081" cy="1600200"/>
          </a:xfrm>
          <a:prstGeom prst="line">
            <a:avLst/>
          </a:prstGeom>
          <a:ln w="30480">
            <a:solidFill>
              <a:srgbClr val="199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074152" y="2354579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3223D"/>
                </a:solidFill>
                <a:latin typeface="Aptos"/>
              </a:rPr>
              <a:t>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601200" y="1234440"/>
            <a:ext cx="1188720" cy="1188720"/>
          </a:xfrm>
          <a:prstGeom prst="line">
            <a:avLst/>
          </a:prstGeom>
          <a:ln w="30480">
            <a:solidFill>
              <a:srgbClr val="5568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994392" y="1554480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3223D"/>
                </a:solidFill>
                <a:latin typeface="Aptos"/>
              </a:rPr>
              <a:t>5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10332720" y="2423160"/>
            <a:ext cx="457200" cy="1828800"/>
          </a:xfrm>
          <a:prstGeom prst="line">
            <a:avLst/>
          </a:prstGeom>
          <a:ln w="30480">
            <a:solidFill>
              <a:srgbClr val="199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360152" y="3063240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3223D"/>
                </a:solidFill>
                <a:latin typeface="Aptos"/>
              </a:rPr>
              <a:t>3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595360" y="3429000"/>
            <a:ext cx="1737360" cy="822960"/>
          </a:xfrm>
          <a:prstGeom prst="line">
            <a:avLst/>
          </a:prstGeom>
          <a:ln w="30480">
            <a:solidFill>
              <a:srgbClr val="5568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262872" y="3566160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3223D"/>
                </a:solidFill>
                <a:latin typeface="Aptos"/>
              </a:rPr>
              <a:t>7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7406640" y="3429000"/>
            <a:ext cx="1188720" cy="1371600"/>
          </a:xfrm>
          <a:prstGeom prst="line">
            <a:avLst/>
          </a:prstGeom>
          <a:ln w="30480">
            <a:solidFill>
              <a:srgbClr val="5568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99831" y="3840480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3223D"/>
                </a:solidFill>
                <a:latin typeface="Aptos"/>
              </a:rPr>
              <a:t>6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7406640" y="4251960"/>
            <a:ext cx="2926080" cy="548640"/>
          </a:xfrm>
          <a:prstGeom prst="line">
            <a:avLst/>
          </a:prstGeom>
          <a:ln w="30480">
            <a:solidFill>
              <a:srgbClr val="199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668511" y="4251960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3223D"/>
                </a:solidFill>
                <a:latin typeface="Aptos"/>
              </a:rPr>
              <a:t>1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8595360" y="1234440"/>
            <a:ext cx="1005840" cy="2194560"/>
          </a:xfrm>
          <a:prstGeom prst="line">
            <a:avLst/>
          </a:prstGeom>
          <a:ln w="30480">
            <a:solidFill>
              <a:srgbClr val="5568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897111" y="2057399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3223D"/>
                </a:solidFill>
                <a:latin typeface="Aptos"/>
              </a:rPr>
              <a:t>8</a:t>
            </a:r>
          </a:p>
        </p:txBody>
      </p:sp>
      <p:sp>
        <p:nvSpPr>
          <p:cNvPr id="18" name="Oval 17"/>
          <p:cNvSpPr/>
          <p:nvPr/>
        </p:nvSpPr>
        <p:spPr>
          <a:xfrm>
            <a:off x="7690104" y="1563624"/>
            <a:ext cx="530352" cy="530352"/>
          </a:xfrm>
          <a:prstGeom prst="ellipse">
            <a:avLst/>
          </a:prstGeom>
          <a:solidFill>
            <a:srgbClr val="199991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9" name="Oval 18"/>
          <p:cNvSpPr/>
          <p:nvPr/>
        </p:nvSpPr>
        <p:spPr>
          <a:xfrm>
            <a:off x="9336024" y="969264"/>
            <a:ext cx="530352" cy="530352"/>
          </a:xfrm>
          <a:prstGeom prst="ellipse">
            <a:avLst/>
          </a:prstGeom>
          <a:solidFill>
            <a:srgbClr val="2A5CA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20" name="Oval 19"/>
          <p:cNvSpPr/>
          <p:nvPr/>
        </p:nvSpPr>
        <p:spPr>
          <a:xfrm>
            <a:off x="10524744" y="2157984"/>
            <a:ext cx="530352" cy="530352"/>
          </a:xfrm>
          <a:prstGeom prst="ellipse">
            <a:avLst/>
          </a:prstGeom>
          <a:solidFill>
            <a:srgbClr val="2A5CA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21" name="Oval 20"/>
          <p:cNvSpPr/>
          <p:nvPr/>
        </p:nvSpPr>
        <p:spPr>
          <a:xfrm>
            <a:off x="8330184" y="3163824"/>
            <a:ext cx="530352" cy="530352"/>
          </a:xfrm>
          <a:prstGeom prst="ellipse">
            <a:avLst/>
          </a:prstGeom>
          <a:solidFill>
            <a:srgbClr val="199991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22" name="Oval 21"/>
          <p:cNvSpPr/>
          <p:nvPr/>
        </p:nvSpPr>
        <p:spPr>
          <a:xfrm>
            <a:off x="10067544" y="3986784"/>
            <a:ext cx="530352" cy="530352"/>
          </a:xfrm>
          <a:prstGeom prst="ellipse">
            <a:avLst/>
          </a:prstGeom>
          <a:solidFill>
            <a:srgbClr val="199991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E</a:t>
            </a:r>
          </a:p>
        </p:txBody>
      </p:sp>
      <p:sp>
        <p:nvSpPr>
          <p:cNvPr id="23" name="Oval 22"/>
          <p:cNvSpPr/>
          <p:nvPr/>
        </p:nvSpPr>
        <p:spPr>
          <a:xfrm>
            <a:off x="7141464" y="4535424"/>
            <a:ext cx="530352" cy="530352"/>
          </a:xfrm>
          <a:prstGeom prst="ellipse">
            <a:avLst/>
          </a:prstGeom>
          <a:solidFill>
            <a:srgbClr val="2A5CA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1234440"/>
            <a:ext cx="6126480" cy="1645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KRUSKAL’S
ALGORITHM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154680"/>
            <a:ext cx="58521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100" b="1">
                <a:solidFill>
                  <a:srgbClr val="F5B742"/>
                </a:solidFill>
                <a:latin typeface="Aptos"/>
              </a:rPr>
              <a:t>Finding a Minimum Spanning Tree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794760"/>
            <a:ext cx="5303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CDD8E7"/>
                </a:solidFill>
                <a:latin typeface="Aptos"/>
              </a:rPr>
              <a:t>Design and Analysis of Algorithms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349240"/>
            <a:ext cx="5029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Presented by: __________________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760720"/>
            <a:ext cx="5029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Class / Roll No.: ________________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3223D"/>
                </a:solidFill>
                <a:latin typeface="Aptos"/>
              </a:rPr>
              <a:t>What is Kruskal’s Algorithm?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822960" cy="54864"/>
          </a:xfrm>
          <a:prstGeom prst="rect">
            <a:avLst/>
          </a:prstGeom>
          <a:solidFill>
            <a:srgbClr val="19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789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87484"/>
                </a:solidFill>
                <a:latin typeface="Aptos"/>
              </a:rPr>
              <a:t>A greedy algorithm used on weighted, undirected graphs.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>
                <a:solidFill>
                  <a:srgbClr val="687484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6400800" cy="4114800"/>
          </a:xfrm>
          <a:prstGeom prst="rect">
            <a:avLst/>
          </a:prstGeom>
          <a:noFill/>
        </p:spPr>
        <p:txBody>
          <a:bodyPr wrap="square" lIns="73152" rIns="36576" tIns="36576" bIns="36576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28313E"/>
                </a:solidFill>
                <a:latin typeface="Aptos"/>
              </a:defRPr>
            </a:pPr>
            <a:r>
              <a:t>•  It finds a Minimum Spanning Tree (MST) of a connected, weighted, undirected graph.</a:t>
            </a:r>
          </a:p>
          <a:p>
            <a:pPr>
              <a:spcAft>
                <a:spcPts val="1500"/>
              </a:spcAft>
              <a:defRPr sz="2000">
                <a:solidFill>
                  <a:srgbClr val="28313E"/>
                </a:solidFill>
                <a:latin typeface="Aptos"/>
              </a:defRPr>
            </a:pPr>
            <a:r>
              <a:t>•  A spanning tree connects every vertex without forming a cycle.</a:t>
            </a:r>
          </a:p>
          <a:p>
            <a:pPr>
              <a:spcAft>
                <a:spcPts val="1500"/>
              </a:spcAft>
              <a:defRPr sz="2000">
                <a:solidFill>
                  <a:srgbClr val="28313E"/>
                </a:solidFill>
                <a:latin typeface="Aptos"/>
              </a:defRPr>
            </a:pPr>
            <a:r>
              <a:t>•  A minimum spanning tree has the smallest possible total edge weight.</a:t>
            </a:r>
          </a:p>
          <a:p>
            <a:pPr>
              <a:spcAft>
                <a:spcPts val="1500"/>
              </a:spcAft>
              <a:defRPr sz="2000">
                <a:solidFill>
                  <a:srgbClr val="28313E"/>
                </a:solidFill>
                <a:latin typeface="Aptos"/>
              </a:defRPr>
            </a:pPr>
            <a:r>
              <a:t>•  Kruskal’s algorithm chooses edges in increasing order of weight.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1828800"/>
            <a:ext cx="356616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40" y="2148840"/>
            <a:ext cx="2834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99991"/>
                </a:solidFill>
                <a:latin typeface="Aptos"/>
              </a:rPr>
              <a:t>KEY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697480"/>
            <a:ext cx="283464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>
                <a:solidFill>
                  <a:srgbClr val="13223D"/>
                </a:solidFill>
                <a:latin typeface="Aptos"/>
              </a:rPr>
              <a:t>Pick the cheapest edge that does not create a cycle.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4251960"/>
            <a:ext cx="3017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687484"/>
                </a:solidFill>
                <a:latin typeface="Aptos"/>
              </a:rPr>
              <a:t>Greedy choice • Cycle check • Minimum total 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6446520"/>
            <a:ext cx="9601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87484"/>
                </a:solidFill>
                <a:latin typeface="Aptos"/>
              </a:rPr>
              <a:t>KRUSKAL'S ALGORITHM  •  DESIGN AND ANALYSIS OF ALGORITHMS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3223D"/>
                </a:solidFill>
                <a:latin typeface="Aptos"/>
              </a:rPr>
              <a:t>Important Terms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822960" cy="54864"/>
          </a:xfrm>
          <a:prstGeom prst="rect">
            <a:avLst/>
          </a:prstGeom>
          <a:solidFill>
            <a:srgbClr val="19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789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87484"/>
                </a:solidFill>
                <a:latin typeface="Aptos"/>
              </a:rPr>
              <a:t>Know these concepts before running the algorithm.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>
                <a:solidFill>
                  <a:srgbClr val="687484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5074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00200"/>
            <a:ext cx="109728" cy="1078992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755648"/>
            <a:ext cx="18288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2A5CAA"/>
                </a:solidFill>
                <a:latin typeface="Aptos"/>
              </a:rPr>
              <a:t>Vertex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103120"/>
            <a:ext cx="45262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8313E"/>
                </a:solidFill>
                <a:latin typeface="Aptos"/>
              </a:rPr>
              <a:t>A node in the graph, such as A or B.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600200"/>
            <a:ext cx="5074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600200"/>
            <a:ext cx="109728" cy="1078992"/>
          </a:xfrm>
          <a:prstGeom prst="rect">
            <a:avLst/>
          </a:prstGeom>
          <a:solidFill>
            <a:srgbClr val="19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755648"/>
            <a:ext cx="18288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99991"/>
                </a:solidFill>
                <a:latin typeface="Aptos"/>
              </a:rPr>
              <a:t>Edge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103120"/>
            <a:ext cx="45262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8313E"/>
                </a:solidFill>
                <a:latin typeface="Aptos"/>
              </a:rPr>
              <a:t>A connection between two vertices.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017520"/>
            <a:ext cx="5074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017520"/>
            <a:ext cx="109728" cy="1078992"/>
          </a:xfrm>
          <a:prstGeom prst="rect">
            <a:avLst/>
          </a:prstGeom>
          <a:solidFill>
            <a:srgbClr val="F5B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172968"/>
            <a:ext cx="18288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F5B742"/>
                </a:solidFill>
                <a:latin typeface="Aptos"/>
              </a:rPr>
              <a:t>Weight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520439"/>
            <a:ext cx="45262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8313E"/>
                </a:solidFill>
                <a:latin typeface="Aptos"/>
              </a:rPr>
              <a:t>The cost or value assigned to an edge.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017520"/>
            <a:ext cx="5074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3017520"/>
            <a:ext cx="109728" cy="1078992"/>
          </a:xfrm>
          <a:prstGeom prst="rect">
            <a:avLst/>
          </a:prstGeom>
          <a:solidFill>
            <a:srgbClr val="CD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3172968"/>
            <a:ext cx="18288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CD4A4A"/>
                </a:solidFill>
                <a:latin typeface="Aptos"/>
              </a:rPr>
              <a:t>Cycle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520439"/>
            <a:ext cx="45262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8313E"/>
                </a:solidFill>
                <a:latin typeface="Aptos"/>
              </a:rPr>
              <a:t>A path that starts and ends at the same vertex.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434840"/>
            <a:ext cx="5074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434840"/>
            <a:ext cx="109728" cy="1078992"/>
          </a:xfrm>
          <a:prstGeom prst="rect">
            <a:avLst/>
          </a:prstGeom>
          <a:solidFill>
            <a:srgbClr val="249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590288"/>
            <a:ext cx="18288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24965F"/>
                </a:solidFill>
                <a:latin typeface="Aptos"/>
              </a:rPr>
              <a:t>Spanning Tree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937759"/>
            <a:ext cx="45262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8313E"/>
                </a:solidFill>
                <a:latin typeface="Aptos"/>
              </a:rPr>
              <a:t>A cycle-free connection of all vertices.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434840"/>
            <a:ext cx="5074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4434840"/>
            <a:ext cx="109728" cy="1078992"/>
          </a:xfrm>
          <a:prstGeom prst="rect">
            <a:avLst/>
          </a:prstGeom>
          <a:solidFill>
            <a:srgbClr val="13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4590288"/>
            <a:ext cx="18288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3223D"/>
                </a:solidFill>
                <a:latin typeface="Aptos"/>
              </a:rPr>
              <a:t>MST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4937759"/>
            <a:ext cx="45262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8313E"/>
                </a:solidFill>
                <a:latin typeface="Aptos"/>
              </a:rPr>
              <a:t>A spanning tree with minimum total weight.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6446520"/>
            <a:ext cx="9601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87484"/>
                </a:solidFill>
                <a:latin typeface="Aptos"/>
              </a:rPr>
              <a:t>KRUSKAL'S ALGORITHM  •  DESIGN AND ANALYSIS OF ALGORITHMS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3223D"/>
                </a:solidFill>
                <a:latin typeface="Aptos"/>
              </a:rPr>
              <a:t>How Does It Work?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822960" cy="54864"/>
          </a:xfrm>
          <a:prstGeom prst="rect">
            <a:avLst/>
          </a:prstGeom>
          <a:solidFill>
            <a:srgbClr val="19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789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87484"/>
                </a:solidFill>
                <a:latin typeface="Aptos"/>
              </a:rPr>
              <a:t>Follow the steps until the tree contains V − 1 edges.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>
                <a:solidFill>
                  <a:srgbClr val="687484"/>
                </a:solidFill>
                <a:latin typeface="Aptos"/>
              </a:rPr>
              <a:t>04</a:t>
            </a:r>
          </a:p>
        </p:txBody>
      </p:sp>
      <p:sp>
        <p:nvSpPr>
          <p:cNvPr id="6" name="Oval 5"/>
          <p:cNvSpPr/>
          <p:nvPr/>
        </p:nvSpPr>
        <p:spPr>
          <a:xfrm>
            <a:off x="1325880" y="1828800"/>
            <a:ext cx="658368" cy="658368"/>
          </a:xfrm>
          <a:prstGeom prst="ellipse">
            <a:avLst/>
          </a:prstGeom>
          <a:solidFill>
            <a:srgbClr val="19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13223D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43200"/>
            <a:ext cx="1600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13223D"/>
                </a:solidFill>
                <a:latin typeface="Aptos"/>
              </a:rPr>
              <a:t>Sort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1874519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28313E"/>
                </a:solidFill>
                <a:latin typeface="Aptos"/>
              </a:rPr>
              <a:t>Sort all edges from smallest to largest weight.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11680" y="2157984"/>
            <a:ext cx="1463040" cy="0"/>
          </a:xfrm>
          <a:prstGeom prst="line">
            <a:avLst/>
          </a:prstGeom>
          <a:ln w="25400">
            <a:solidFill>
              <a:srgbClr val="B9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611879" y="1828800"/>
            <a:ext cx="658368" cy="658368"/>
          </a:xfrm>
          <a:prstGeom prst="ellipse">
            <a:avLst/>
          </a:prstGeom>
          <a:solidFill>
            <a:srgbClr val="19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13223D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79" y="2743200"/>
            <a:ext cx="1600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13223D"/>
                </a:solidFill>
                <a:latin typeface="Aptos"/>
              </a:rPr>
              <a:t>Select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200400"/>
            <a:ext cx="1874519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28313E"/>
                </a:solidFill>
                <a:latin typeface="Aptos"/>
              </a:rPr>
              <a:t>Take the next lightest edge.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97679" y="2157984"/>
            <a:ext cx="1463041" cy="0"/>
          </a:xfrm>
          <a:prstGeom prst="line">
            <a:avLst/>
          </a:prstGeom>
          <a:ln w="25400">
            <a:solidFill>
              <a:srgbClr val="B9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897880" y="1828800"/>
            <a:ext cx="658368" cy="658368"/>
          </a:xfrm>
          <a:prstGeom prst="ellipse">
            <a:avLst/>
          </a:prstGeom>
          <a:solidFill>
            <a:srgbClr val="19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13223D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2743200"/>
            <a:ext cx="1600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13223D"/>
                </a:solidFill>
                <a:latin typeface="Aptos"/>
              </a:rPr>
              <a:t>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3200400"/>
            <a:ext cx="1874519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28313E"/>
                </a:solidFill>
                <a:latin typeface="Aptos"/>
              </a:rPr>
              <a:t>If it creates a cycle, skip it.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583679" y="2157984"/>
            <a:ext cx="1463041" cy="0"/>
          </a:xfrm>
          <a:prstGeom prst="line">
            <a:avLst/>
          </a:prstGeom>
          <a:ln w="25400">
            <a:solidFill>
              <a:srgbClr val="B9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8183880" y="1828800"/>
            <a:ext cx="658368" cy="658368"/>
          </a:xfrm>
          <a:prstGeom prst="ellipse">
            <a:avLst/>
          </a:prstGeom>
          <a:solidFill>
            <a:srgbClr val="19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13223D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80" y="2743200"/>
            <a:ext cx="1600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13223D"/>
                </a:solidFill>
                <a:latin typeface="Aptos"/>
              </a:rPr>
              <a:t>Add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3200400"/>
            <a:ext cx="1874519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28313E"/>
                </a:solidFill>
                <a:latin typeface="Aptos"/>
              </a:rPr>
              <a:t>Otherwise, add the edge to the MST.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869680" y="2157984"/>
            <a:ext cx="1463040" cy="0"/>
          </a:xfrm>
          <a:prstGeom prst="line">
            <a:avLst/>
          </a:prstGeom>
          <a:ln w="25400">
            <a:solidFill>
              <a:srgbClr val="B9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10469880" y="1828800"/>
            <a:ext cx="658368" cy="658368"/>
          </a:xfrm>
          <a:prstGeom prst="ellipse">
            <a:avLst/>
          </a:prstGeom>
          <a:solidFill>
            <a:srgbClr val="F5B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13223D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12680" y="2743200"/>
            <a:ext cx="1600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13223D"/>
                </a:solidFill>
                <a:latin typeface="Aptos"/>
              </a:rPr>
              <a:t>Stop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3200400"/>
            <a:ext cx="1874519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28313E"/>
                </a:solidFill>
                <a:latin typeface="Aptos"/>
              </a:rPr>
              <a:t>Stop when V − 1 edges have been selected.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166360"/>
            <a:ext cx="99669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199991"/>
                </a:solidFill>
                <a:latin typeface="Aptos"/>
              </a:rPr>
              <a:t>Remember: an MST for V vertices has exactly V − 1 edges.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6446520"/>
            <a:ext cx="9601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87484"/>
                </a:solidFill>
                <a:latin typeface="Aptos"/>
              </a:rPr>
              <a:t>KRUSKAL'S ALGORITHM  •  DESIGN AND ANALYSIS OF ALGORITHMS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3223D"/>
                </a:solidFill>
                <a:latin typeface="Aptos"/>
              </a:rPr>
              <a:t>Worked Example: Given Graph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822960" cy="54864"/>
          </a:xfrm>
          <a:prstGeom prst="rect">
            <a:avLst/>
          </a:prstGeom>
          <a:solidFill>
            <a:srgbClr val="19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789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87484"/>
                </a:solidFill>
                <a:latin typeface="Aptos"/>
              </a:rPr>
              <a:t>Find the MST using Kruskal’s algorithm.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>
                <a:solidFill>
                  <a:srgbClr val="687484"/>
                </a:solidFill>
                <a:latin typeface="Aptos"/>
              </a:rPr>
              <a:t>05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828800" y="1737360"/>
            <a:ext cx="2377440" cy="640080"/>
          </a:xfrm>
          <a:prstGeom prst="line">
            <a:avLst/>
          </a:prstGeom>
          <a:ln w="25400">
            <a:solidFill>
              <a:srgbClr val="68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816351" y="1783079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3223D"/>
                </a:solidFill>
                <a:latin typeface="Aptos"/>
              </a:rPr>
              <a:t>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28800" y="2377440"/>
            <a:ext cx="1097280" cy="1737360"/>
          </a:xfrm>
          <a:prstGeom prst="line">
            <a:avLst/>
          </a:prstGeom>
          <a:ln w="25400">
            <a:solidFill>
              <a:srgbClr val="68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176272" y="2971799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3223D"/>
                </a:solidFill>
                <a:latin typeface="Aptos"/>
              </a:rPr>
              <a:t>4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2926080" y="1737360"/>
            <a:ext cx="1280160" cy="2377440"/>
          </a:xfrm>
          <a:prstGeom prst="line">
            <a:avLst/>
          </a:prstGeom>
          <a:ln w="25400">
            <a:solidFill>
              <a:srgbClr val="68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364991" y="2651760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3223D"/>
                </a:solidFill>
                <a:latin typeface="Aptos"/>
              </a:rPr>
              <a:t>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206240" y="1737360"/>
            <a:ext cx="2194560" cy="640080"/>
          </a:xfrm>
          <a:prstGeom prst="line">
            <a:avLst/>
          </a:prstGeom>
          <a:ln w="25400">
            <a:solidFill>
              <a:srgbClr val="68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102352" y="1783079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3223D"/>
                </a:solidFill>
                <a:latin typeface="Aptos"/>
              </a:rPr>
              <a:t>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926080" y="4114800"/>
            <a:ext cx="2651760" cy="0"/>
          </a:xfrm>
          <a:prstGeom prst="line">
            <a:avLst/>
          </a:prstGeom>
          <a:ln w="25400">
            <a:solidFill>
              <a:srgbClr val="68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050792" y="3840480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3223D"/>
                </a:solidFill>
                <a:latin typeface="Aptos"/>
              </a:rPr>
              <a:t>3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5577840" y="2377440"/>
            <a:ext cx="822960" cy="1737360"/>
          </a:xfrm>
          <a:prstGeom prst="line">
            <a:avLst/>
          </a:prstGeom>
          <a:ln w="25400">
            <a:solidFill>
              <a:srgbClr val="68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788152" y="2971799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3223D"/>
                </a:solidFill>
                <a:latin typeface="Aptos"/>
              </a:rPr>
              <a:t>6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206240" y="1737360"/>
            <a:ext cx="1371600" cy="2377440"/>
          </a:xfrm>
          <a:prstGeom prst="line">
            <a:avLst/>
          </a:prstGeom>
          <a:ln w="25400">
            <a:solidFill>
              <a:srgbClr val="68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690872" y="2651760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3223D"/>
                </a:solidFill>
                <a:latin typeface="Aptos"/>
              </a:rPr>
              <a:t>7</a:t>
            </a:r>
          </a:p>
        </p:txBody>
      </p:sp>
      <p:sp>
        <p:nvSpPr>
          <p:cNvPr id="20" name="Oval 19"/>
          <p:cNvSpPr/>
          <p:nvPr/>
        </p:nvSpPr>
        <p:spPr>
          <a:xfrm>
            <a:off x="1577340" y="2125980"/>
            <a:ext cx="502920" cy="502920"/>
          </a:xfrm>
          <a:prstGeom prst="ellipse">
            <a:avLst/>
          </a:prstGeom>
          <a:solidFill>
            <a:srgbClr val="2A5CA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21" name="Oval 20"/>
          <p:cNvSpPr/>
          <p:nvPr/>
        </p:nvSpPr>
        <p:spPr>
          <a:xfrm>
            <a:off x="3954779" y="1485900"/>
            <a:ext cx="502920" cy="502920"/>
          </a:xfrm>
          <a:prstGeom prst="ellipse">
            <a:avLst/>
          </a:prstGeom>
          <a:solidFill>
            <a:srgbClr val="2A5CA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22" name="Oval 21"/>
          <p:cNvSpPr/>
          <p:nvPr/>
        </p:nvSpPr>
        <p:spPr>
          <a:xfrm>
            <a:off x="6149340" y="2125980"/>
            <a:ext cx="502920" cy="502920"/>
          </a:xfrm>
          <a:prstGeom prst="ellipse">
            <a:avLst/>
          </a:prstGeom>
          <a:solidFill>
            <a:srgbClr val="2A5CA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23" name="Oval 22"/>
          <p:cNvSpPr/>
          <p:nvPr/>
        </p:nvSpPr>
        <p:spPr>
          <a:xfrm>
            <a:off x="2674620" y="3863339"/>
            <a:ext cx="502920" cy="502920"/>
          </a:xfrm>
          <a:prstGeom prst="ellipse">
            <a:avLst/>
          </a:prstGeom>
          <a:solidFill>
            <a:srgbClr val="2A5CA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24" name="Oval 23"/>
          <p:cNvSpPr/>
          <p:nvPr/>
        </p:nvSpPr>
        <p:spPr>
          <a:xfrm>
            <a:off x="5326379" y="3863339"/>
            <a:ext cx="502920" cy="502920"/>
          </a:xfrm>
          <a:prstGeom prst="ellipse">
            <a:avLst/>
          </a:prstGeom>
          <a:solidFill>
            <a:srgbClr val="2A5CA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0" y="1600200"/>
            <a:ext cx="34747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92440" y="1874519"/>
            <a:ext cx="2834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3223D"/>
                </a:solidFill>
                <a:latin typeface="Aptos"/>
              </a:rPr>
              <a:t>Edges in increasing order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2331720"/>
            <a:ext cx="2286000" cy="2468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28313E"/>
                </a:solidFill>
                <a:latin typeface="Aptos"/>
              </a:rPr>
              <a:t>AB = 1
BD = 2
DE = 3
AD = 4
BC = 5
CE = 6
BE =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5029200"/>
            <a:ext cx="28346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99991"/>
                </a:solidFill>
                <a:latin typeface="Aptos"/>
              </a:rPr>
              <a:t>Goal: connect all 5 vertices with 4 edges and no cycle.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6446520"/>
            <a:ext cx="9601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87484"/>
                </a:solidFill>
                <a:latin typeface="Aptos"/>
              </a:rPr>
              <a:t>KRUSKAL'S ALGORITHM  •  DESIGN AND ANALYSIS OF ALGORITHMS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3223D"/>
                </a:solidFill>
                <a:latin typeface="Aptos"/>
              </a:rPr>
              <a:t>Worked Example: Select the Edges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822960" cy="54864"/>
          </a:xfrm>
          <a:prstGeom prst="rect">
            <a:avLst/>
          </a:prstGeom>
          <a:solidFill>
            <a:srgbClr val="19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789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87484"/>
                </a:solidFill>
                <a:latin typeface="Aptos"/>
              </a:rPr>
              <a:t>Accept an edge only if it does not form a cycle.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>
                <a:solidFill>
                  <a:srgbClr val="687484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106070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46504"/>
            <a:ext cx="14630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3223D"/>
                </a:solidFill>
                <a:latin typeface="Aptos"/>
              </a:rPr>
              <a:t>AB =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746504"/>
            <a:ext cx="1188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4965F"/>
                </a:solidFill>
                <a:latin typeface="Aptos"/>
              </a:rPr>
              <a:t>Accept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1719072"/>
            <a:ext cx="70408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8313E"/>
                </a:solidFill>
                <a:latin typeface="Aptos"/>
              </a:rPr>
              <a:t>Connect A and 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423160"/>
            <a:ext cx="106070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569464"/>
            <a:ext cx="14630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3223D"/>
                </a:solidFill>
                <a:latin typeface="Aptos"/>
              </a:rPr>
              <a:t>BD =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569464"/>
            <a:ext cx="1188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4965F"/>
                </a:solidFill>
                <a:latin typeface="Aptos"/>
              </a:rPr>
              <a:t>Accept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2542032"/>
            <a:ext cx="70408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8313E"/>
                </a:solidFill>
                <a:latin typeface="Aptos"/>
              </a:rPr>
              <a:t>Connect B and 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246120"/>
            <a:ext cx="106070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392424"/>
            <a:ext cx="14630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3223D"/>
                </a:solidFill>
                <a:latin typeface="Aptos"/>
              </a:rPr>
              <a:t>DE =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392424"/>
            <a:ext cx="1188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4965F"/>
                </a:solidFill>
                <a:latin typeface="Aptos"/>
              </a:rPr>
              <a:t>Accept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39" y="3364991"/>
            <a:ext cx="70408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8313E"/>
                </a:solidFill>
                <a:latin typeface="Aptos"/>
              </a:rPr>
              <a:t>Connect D and 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069080"/>
            <a:ext cx="106070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215384"/>
            <a:ext cx="14630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3223D"/>
                </a:solidFill>
                <a:latin typeface="Aptos"/>
              </a:rPr>
              <a:t>AD =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4215384"/>
            <a:ext cx="1188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CD4A4A"/>
                </a:solidFill>
                <a:latin typeface="Aptos"/>
              </a:rPr>
              <a:t>Reject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39" y="4187952"/>
            <a:ext cx="70408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8313E"/>
                </a:solidFill>
                <a:latin typeface="Aptos"/>
              </a:rPr>
              <a:t>A–D already connected through A–B–D; this forms a cycle.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892040"/>
            <a:ext cx="106070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038344"/>
            <a:ext cx="14630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3223D"/>
                </a:solidFill>
                <a:latin typeface="Aptos"/>
              </a:rPr>
              <a:t>BC =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5038344"/>
            <a:ext cx="1188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4965F"/>
                </a:solidFill>
                <a:latin typeface="Aptos"/>
              </a:rPr>
              <a:t>Accept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77639" y="5010912"/>
            <a:ext cx="70408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8313E"/>
                </a:solidFill>
                <a:latin typeface="Aptos"/>
              </a:rPr>
              <a:t>Connect C to the tree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897880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900" b="1">
                <a:solidFill>
                  <a:srgbClr val="199991"/>
                </a:solidFill>
                <a:latin typeface="Aptos"/>
              </a:rPr>
              <a:t>MST edges: AB, BD, DE, BC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40" y="5897880"/>
            <a:ext cx="5120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900" b="1">
                <a:solidFill>
                  <a:srgbClr val="13223D"/>
                </a:solidFill>
                <a:latin typeface="Aptos"/>
              </a:rPr>
              <a:t>Total weight = 1 + 2 + 3 + 5 = 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6446520"/>
            <a:ext cx="9601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87484"/>
                </a:solidFill>
                <a:latin typeface="Aptos"/>
              </a:rPr>
              <a:t>KRUSKAL'S ALGORITHM  •  DESIGN AND ANALYSIS OF ALGORITHMS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3223D"/>
                </a:solidFill>
                <a:latin typeface="Aptos"/>
              </a:rPr>
              <a:t>Pseudocode and Complexity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822960" cy="54864"/>
          </a:xfrm>
          <a:prstGeom prst="rect">
            <a:avLst/>
          </a:prstGeom>
          <a:solidFill>
            <a:srgbClr val="19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789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87484"/>
                </a:solidFill>
                <a:latin typeface="Aptos"/>
              </a:rPr>
              <a:t>A Disjoint Set Union (Union-Find) structure helps detect cycles efficiently.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>
                <a:solidFill>
                  <a:srgbClr val="687484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6492240" cy="4480560"/>
          </a:xfrm>
          <a:prstGeom prst="roundRect">
            <a:avLst/>
          </a:prstGeom>
          <a:solidFill>
            <a:srgbClr val="13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28800"/>
            <a:ext cx="5852160" cy="4023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KRUSKAL(G):
  MST = empty set
  sort edges by increasing weight
  make each vertex its own set
  for each edge (u, v) in sorted edges:
      if FIND(u) != FIND(v):
          add (u, v) to MST
          UNION(u, v)
      if MST has V − 1 edges:
          break
  return MST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737360"/>
            <a:ext cx="36118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2011680"/>
            <a:ext cx="2926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99991"/>
                </a:solidFill>
                <a:latin typeface="Aptos"/>
              </a:rPr>
              <a:t>Time Complexity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2514600"/>
            <a:ext cx="29260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13223D"/>
                </a:solidFill>
                <a:latin typeface="Aptos"/>
              </a:rPr>
              <a:t>O(E log 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3017520"/>
            <a:ext cx="2926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87484"/>
                </a:solidFill>
                <a:latin typeface="Aptos"/>
              </a:rPr>
              <a:t>E = number of edges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3840480"/>
            <a:ext cx="36118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4114800"/>
            <a:ext cx="2926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99991"/>
                </a:solidFill>
                <a:latin typeface="Aptos"/>
              </a:rPr>
              <a:t>Space Complexity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4617720"/>
            <a:ext cx="29260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13223D"/>
                </a:solidFill>
                <a:latin typeface="Aptos"/>
              </a:rPr>
              <a:t>O(V)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5074920"/>
            <a:ext cx="2926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87484"/>
                </a:solidFill>
                <a:latin typeface="Aptos"/>
              </a:rPr>
              <a:t>for Union-Find storage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6446520"/>
            <a:ext cx="9601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87484"/>
                </a:solidFill>
                <a:latin typeface="Aptos"/>
              </a:rPr>
              <a:t>KRUSKAL'S ALGORITHM  •  DESIGN AND ANALYSIS OF ALGORITHMS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3223D"/>
                </a:solidFill>
                <a:latin typeface="Aptos"/>
              </a:rPr>
              <a:t>Applications and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822960" cy="54864"/>
          </a:xfrm>
          <a:prstGeom prst="rect">
            <a:avLst/>
          </a:prstGeom>
          <a:solidFill>
            <a:srgbClr val="19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789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87484"/>
                </a:solidFill>
                <a:latin typeface="Aptos"/>
              </a:rPr>
              <a:t>Where a minimum-cost network is useful.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>
                <a:solidFill>
                  <a:srgbClr val="687484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6583680" cy="3840480"/>
          </a:xfrm>
          <a:prstGeom prst="rect">
            <a:avLst/>
          </a:prstGeom>
          <a:noFill/>
        </p:spPr>
        <p:txBody>
          <a:bodyPr wrap="square" lIns="73152" rIns="36576" tIns="36576" bIns="36576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28313E"/>
                </a:solidFill>
                <a:latin typeface="Aptos"/>
              </a:defRPr>
            </a:pPr>
            <a:r>
              <a:t>•  Designing low-cost computer and communication networks.</a:t>
            </a:r>
          </a:p>
          <a:p>
            <a:pPr>
              <a:spcAft>
                <a:spcPts val="1500"/>
              </a:spcAft>
              <a:defRPr sz="1900">
                <a:solidFill>
                  <a:srgbClr val="28313E"/>
                </a:solidFill>
                <a:latin typeface="Aptos"/>
              </a:defRPr>
            </a:pPr>
            <a:r>
              <a:t>•  Planning roads, pipelines, and electrical connections.</a:t>
            </a:r>
          </a:p>
          <a:p>
            <a:pPr>
              <a:spcAft>
                <a:spcPts val="1500"/>
              </a:spcAft>
              <a:defRPr sz="1900">
                <a:solidFill>
                  <a:srgbClr val="28313E"/>
                </a:solidFill>
                <a:latin typeface="Aptos"/>
              </a:defRPr>
            </a:pPr>
            <a:r>
              <a:t>•  Connecting locations with minimum total cable or construction cost.</a:t>
            </a:r>
          </a:p>
          <a:p>
            <a:pPr>
              <a:spcAft>
                <a:spcPts val="1500"/>
              </a:spcAft>
              <a:defRPr sz="1900">
                <a:solidFill>
                  <a:srgbClr val="28313E"/>
                </a:solidFill>
                <a:latin typeface="Aptos"/>
              </a:defRPr>
            </a:pPr>
            <a:r>
              <a:t>•  Useful when all vertices must be connected without redundant cycles.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828800"/>
            <a:ext cx="3383280" cy="3154680"/>
          </a:xfrm>
          <a:prstGeom prst="roundRect">
            <a:avLst/>
          </a:prstGeom>
          <a:solidFill>
            <a:srgbClr val="13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2194560"/>
            <a:ext cx="2651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F5B742"/>
                </a:solidFill>
                <a:latin typeface="Aptos"/>
              </a:rPr>
              <a:t>IN SHORT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743200"/>
            <a:ext cx="2651760" cy="1371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Sort edges → choose the lightest safe edge → avoid cycles → stop at V − 1 edges.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623560"/>
            <a:ext cx="3657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199991"/>
                </a:solidFill>
                <a:latin typeface="Aptos"/>
              </a:rPr>
              <a:t>Thank You!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6446520"/>
            <a:ext cx="9601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87484"/>
                </a:solidFill>
                <a:latin typeface="Aptos"/>
              </a:rPr>
              <a:t>KRUSKAL'S ALGORITHM  •  DESIGN AND ANALYSIS OF ALGORITHMS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